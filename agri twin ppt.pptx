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3"/>
    <p:sldId id="257" r:id="rId4"/>
    <p:sldId id="259" r:id="rId5"/>
    <p:sldId id="260" r:id="rId6"/>
    <p:sldId id="261"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BB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2" autoAdjust="0"/>
    <p:restoredTop sz="94660"/>
  </p:normalViewPr>
  <p:slideViewPr>
    <p:cSldViewPr snapToGrid="0" snapToObjects="1">
      <p:cViewPr varScale="1">
        <p:scale>
          <a:sx n="64" d="100"/>
          <a:sy n="64" d="100"/>
        </p:scale>
        <p:origin x="105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1_template.png"/>
          <p:cNvPicPr>
            <a:picLocks noChangeAspect="1"/>
          </p:cNvPicPr>
          <p:nvPr/>
        </p:nvPicPr>
        <p:blipFill>
          <a:blip r:embed="rId2"/>
          <a:stretch>
            <a:fillRect/>
          </a:stretch>
        </p:blipFill>
        <p:spPr>
          <a:xfrm>
            <a:off x="1" y="0"/>
            <a:ext cx="12191999" cy="6858000"/>
          </a:xfrm>
          <a:prstGeom prst="rect">
            <a:avLst/>
          </a:prstGeom>
        </p:spPr>
      </p:pic>
      <p:sp>
        <p:nvSpPr>
          <p:cNvPr id="4" name="TextBox 3">
            <a:extLst>
              <a:ext uri="{FF2B5EF4-FFF2-40B4-BE49-F238E27FC236}">
                <a16:creationId xmlns:a16="http://schemas.microsoft.com/office/drawing/2014/main" id="{339FFDAF-AB7A-2B31-F467-572BA47D3C77}"/>
              </a:ext>
            </a:extLst>
          </p:cNvPr>
          <p:cNvSpPr txBox="1"/>
          <p:nvPr/>
        </p:nvSpPr>
        <p:spPr>
          <a:xfrm>
            <a:off x="547141" y="216481"/>
            <a:ext cx="7318948" cy="5816977"/>
          </a:xfrm>
          <a:prstGeom prst="rect">
            <a:avLst/>
          </a:prstGeom>
          <a:noFill/>
        </p:spPr>
        <p:txBody>
          <a:bodyPr wrap="square">
            <a:spAutoFit/>
          </a:bodyPr>
          <a:lstStyle/>
          <a:p>
            <a:r>
              <a:rPr lang="en-IN" sz="4000" b="1" i="1" u="sng" dirty="0">
                <a:solidFill>
                  <a:srgbClr val="FFFF00"/>
                </a:solidFill>
                <a:latin typeface="Algerian" panose="04020705040A02060702" pitchFamily="82" charset="0"/>
              </a:rPr>
              <a:t>“Agri</a:t>
            </a:r>
            <a:r>
              <a:rPr lang="en-IN" sz="4000" b="1" dirty="0">
                <a:solidFill>
                  <a:srgbClr val="FFFF00"/>
                </a:solidFill>
                <a:latin typeface="Algerian" panose="04020705040A02060702" pitchFamily="82" charset="0"/>
              </a:rPr>
              <a:t> </a:t>
            </a:r>
            <a:r>
              <a:rPr lang="en-IN" sz="4000" b="1" i="1" u="sng" dirty="0">
                <a:solidFill>
                  <a:srgbClr val="FFFF00"/>
                </a:solidFill>
                <a:latin typeface="Algerian" panose="04020705040A02060702" pitchFamily="82" charset="0"/>
              </a:rPr>
              <a:t>Twin</a:t>
            </a:r>
            <a:r>
              <a:rPr lang="en-IN" sz="4000" b="1" dirty="0">
                <a:solidFill>
                  <a:srgbClr val="FFFF00"/>
                </a:solidFill>
                <a:latin typeface="Algerian" panose="04020705040A02060702" pitchFamily="82" charset="0"/>
              </a:rPr>
              <a:t> </a:t>
            </a:r>
            <a:r>
              <a:rPr lang="en-IN" sz="4000" b="1" i="1" u="sng" dirty="0">
                <a:solidFill>
                  <a:srgbClr val="FFFF00"/>
                </a:solidFill>
                <a:latin typeface="Algerian" panose="04020705040A02060702" pitchFamily="82" charset="0"/>
              </a:rPr>
              <a:t>AI</a:t>
            </a:r>
            <a:r>
              <a:rPr lang="en-IN" sz="4000" b="1" dirty="0">
                <a:solidFill>
                  <a:srgbClr val="FFFF00"/>
                </a:solidFill>
                <a:latin typeface="Algerian" panose="04020705040A02060702" pitchFamily="82" charset="0"/>
              </a:rPr>
              <a:t> – </a:t>
            </a:r>
            <a:r>
              <a:rPr lang="en-IN" sz="4000" b="1" i="1" u="sng" dirty="0">
                <a:solidFill>
                  <a:srgbClr val="FFFF00"/>
                </a:solidFill>
                <a:latin typeface="Algerian" panose="04020705040A02060702" pitchFamily="82" charset="0"/>
              </a:rPr>
              <a:t>Risk-Aware</a:t>
            </a:r>
            <a:r>
              <a:rPr lang="en-IN" sz="4000" b="1" dirty="0">
                <a:solidFill>
                  <a:srgbClr val="FFFF00"/>
                </a:solidFill>
                <a:latin typeface="Algerian" panose="04020705040A02060702" pitchFamily="82" charset="0"/>
              </a:rPr>
              <a:t> </a:t>
            </a:r>
            <a:r>
              <a:rPr lang="en-IN" sz="4000" b="1" i="1" u="sng" dirty="0">
                <a:solidFill>
                  <a:srgbClr val="FFFF00"/>
                </a:solidFill>
                <a:latin typeface="Algerian" panose="04020705040A02060702" pitchFamily="82" charset="0"/>
              </a:rPr>
              <a:t>Adaptive</a:t>
            </a:r>
            <a:r>
              <a:rPr lang="en-IN" sz="4000" b="1" dirty="0">
                <a:solidFill>
                  <a:srgbClr val="FFFF00"/>
                </a:solidFill>
                <a:latin typeface="Algerian" panose="04020705040A02060702" pitchFamily="82" charset="0"/>
              </a:rPr>
              <a:t> </a:t>
            </a:r>
            <a:r>
              <a:rPr lang="en-IN" sz="4000" b="1" i="1" u="sng" dirty="0">
                <a:solidFill>
                  <a:srgbClr val="FFFF00"/>
                </a:solidFill>
                <a:latin typeface="Algerian" panose="04020705040A02060702" pitchFamily="82" charset="0"/>
              </a:rPr>
              <a:t>Farming</a:t>
            </a:r>
            <a:r>
              <a:rPr lang="en-IN" sz="4000" b="1" dirty="0">
                <a:solidFill>
                  <a:srgbClr val="FFFF00"/>
                </a:solidFill>
                <a:latin typeface="Algerian" panose="04020705040A02060702" pitchFamily="82" charset="0"/>
              </a:rPr>
              <a:t> </a:t>
            </a:r>
            <a:r>
              <a:rPr lang="en-IN" sz="4000" b="1" i="1" u="sng" dirty="0">
                <a:solidFill>
                  <a:srgbClr val="FFFF00"/>
                </a:solidFill>
                <a:latin typeface="Algerian" panose="04020705040A02060702" pitchFamily="82" charset="0"/>
              </a:rPr>
              <a:t>Platform” </a:t>
            </a:r>
          </a:p>
          <a:p>
            <a:r>
              <a:rPr lang="en-IN" sz="4000" i="1" dirty="0">
                <a:solidFill>
                  <a:srgbClr val="FFFF00"/>
                </a:solidFill>
                <a:latin typeface="Algerian" panose="04020705040A02060702" pitchFamily="82" charset="0"/>
              </a:rPr>
              <a:t>                 </a:t>
            </a:r>
            <a:r>
              <a:rPr lang="en-IN" sz="4000" b="1" i="1" dirty="0">
                <a:solidFill>
                  <a:srgbClr val="FFFF00"/>
                </a:solidFill>
                <a:latin typeface="Algerian" panose="04020705040A02060702" pitchFamily="82" charset="0"/>
              </a:rPr>
              <a:t>- </a:t>
            </a:r>
            <a:r>
              <a:rPr lang="en-IN" sz="2400" b="1" i="1" dirty="0">
                <a:solidFill>
                  <a:srgbClr val="FFFF00"/>
                </a:solidFill>
                <a:latin typeface="Algerian" panose="04020705040A02060702" pitchFamily="82" charset="0"/>
              </a:rPr>
              <a:t>BY team </a:t>
            </a:r>
            <a:r>
              <a:rPr lang="en-IN" sz="2400" b="1" i="1" dirty="0" err="1">
                <a:solidFill>
                  <a:srgbClr val="FFFF00"/>
                </a:solidFill>
                <a:latin typeface="Algerian" panose="04020705040A02060702" pitchFamily="82" charset="0"/>
              </a:rPr>
              <a:t>aetherix</a:t>
            </a:r>
            <a:endParaRPr lang="en-IN" sz="2400" b="1" i="1" dirty="0">
              <a:solidFill>
                <a:srgbClr val="FFFF00"/>
              </a:solidFill>
              <a:latin typeface="Algerian" panose="04020705040A02060702" pitchFamily="82" charset="0"/>
            </a:endParaRPr>
          </a:p>
          <a:p>
            <a:r>
              <a:rPr lang="en-IN" dirty="0">
                <a:solidFill>
                  <a:srgbClr val="FFFF00"/>
                </a:solidFill>
                <a:latin typeface="Bauhaus 93" panose="04030905020B02020C02" pitchFamily="82" charset="0"/>
              </a:rPr>
              <a:t>Team Leader: C. </a:t>
            </a:r>
            <a:r>
              <a:rPr lang="en-IN" dirty="0" err="1">
                <a:solidFill>
                  <a:srgbClr val="FFFF00"/>
                </a:solidFill>
                <a:latin typeface="Bauhaus 93" panose="04030905020B02020C02" pitchFamily="82" charset="0"/>
              </a:rPr>
              <a:t>Navienkumaar</a:t>
            </a:r>
            <a:endParaRPr lang="en-IN" dirty="0">
              <a:solidFill>
                <a:srgbClr val="FFFF00"/>
              </a:solidFill>
              <a:latin typeface="Bauhaus 93" panose="04030905020B02020C02" pitchFamily="82" charset="0"/>
            </a:endParaRPr>
          </a:p>
          <a:p>
            <a:endParaRPr lang="en-IN" dirty="0">
              <a:solidFill>
                <a:srgbClr val="FFFF00"/>
              </a:solidFill>
              <a:latin typeface="Bauhaus 93" panose="04030905020B02020C02" pitchFamily="82" charset="0"/>
            </a:endParaRPr>
          </a:p>
          <a:p>
            <a:r>
              <a:rPr lang="en-IN" sz="1400" dirty="0">
                <a:solidFill>
                  <a:srgbClr val="FFFF00"/>
                </a:solidFill>
                <a:latin typeface="Berlin Sans FB Demi" panose="020E0802020502020306" pitchFamily="34" charset="0"/>
              </a:rPr>
              <a:t>Team Members:</a:t>
            </a:r>
          </a:p>
          <a:p>
            <a:r>
              <a:rPr lang="en-IN" sz="1400" dirty="0">
                <a:solidFill>
                  <a:srgbClr val="FFFF00"/>
                </a:solidFill>
                <a:latin typeface="Berlin Sans FB Demi" panose="020E0802020502020306" pitchFamily="34" charset="0"/>
              </a:rPr>
              <a:t>1  . NAVIENKUMAAR C</a:t>
            </a:r>
          </a:p>
          <a:p>
            <a:r>
              <a:rPr lang="en-IN" sz="1400" dirty="0">
                <a:solidFill>
                  <a:srgbClr val="FFFF00"/>
                </a:solidFill>
                <a:latin typeface="Berlin Sans FB Demi" panose="020E0802020502020306" pitchFamily="34" charset="0"/>
              </a:rPr>
              <a:t>2 . HARSHAVARDHINI M</a:t>
            </a:r>
          </a:p>
          <a:p>
            <a:r>
              <a:rPr lang="en-IN" sz="1400" dirty="0">
                <a:solidFill>
                  <a:srgbClr val="FFFF00"/>
                </a:solidFill>
                <a:latin typeface="Berlin Sans FB Demi" panose="020E0802020502020306" pitchFamily="34" charset="0"/>
              </a:rPr>
              <a:t>3 . SIDDHARTH S</a:t>
            </a:r>
          </a:p>
          <a:p>
            <a:r>
              <a:rPr lang="en-IN" sz="1400" dirty="0">
                <a:solidFill>
                  <a:srgbClr val="FFFF00"/>
                </a:solidFill>
                <a:latin typeface="Berlin Sans FB Demi" panose="020E0802020502020306" pitchFamily="34" charset="0"/>
              </a:rPr>
              <a:t>4 . MAHALAKSHMI S</a:t>
            </a:r>
          </a:p>
          <a:p>
            <a:r>
              <a:rPr lang="en-IN" sz="1400" dirty="0">
                <a:solidFill>
                  <a:srgbClr val="FFFF00"/>
                </a:solidFill>
                <a:latin typeface="Berlin Sans FB Demi" panose="020E0802020502020306" pitchFamily="34" charset="0"/>
              </a:rPr>
              <a:t>5 . SHRI SHYAM A J</a:t>
            </a:r>
          </a:p>
          <a:p>
            <a:r>
              <a:rPr lang="en-IN" sz="1400" dirty="0">
                <a:solidFill>
                  <a:srgbClr val="FFFF00"/>
                </a:solidFill>
                <a:latin typeface="Berlin Sans FB Demi" panose="020E0802020502020306" pitchFamily="34" charset="0"/>
              </a:rPr>
              <a:t>6 . NITISH NARAYANAN G</a:t>
            </a:r>
          </a:p>
          <a:p>
            <a:r>
              <a:rPr lang="en-IN" sz="4000" b="1" i="1" u="sng" dirty="0">
                <a:solidFill>
                  <a:srgbClr val="FFFF00"/>
                </a:solidFill>
                <a:latin typeface="Algerian" panose="04020705040A02060702" pitchFamily="82" charset="0"/>
              </a:rPr>
              <a:t>   </a:t>
            </a:r>
          </a:p>
          <a:p>
            <a:endParaRPr lang="en-IN" sz="2400" b="1" i="1" dirty="0">
              <a:solidFill>
                <a:srgbClr val="FFFF00"/>
              </a:solidFill>
              <a:latin typeface="Algerian" panose="04020705040A02060702"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7_template.png"/>
          <p:cNvPicPr>
            <a:picLocks noChangeAspect="1"/>
          </p:cNvPicPr>
          <p:nvPr/>
        </p:nvPicPr>
        <p:blipFill>
          <a:blip r:embed="rId2"/>
          <a:stretch>
            <a:fillRect/>
          </a:stretch>
        </p:blipFill>
        <p:spPr>
          <a:xfrm>
            <a:off x="0" y="0"/>
            <a:ext cx="12191999" cy="6858000"/>
          </a:xfrm>
          <a:prstGeom prst="rect">
            <a:avLst/>
          </a:prstGeom>
        </p:spPr>
      </p:pic>
      <p:sp>
        <p:nvSpPr>
          <p:cNvPr id="4" name="TextBox 3">
            <a:extLst>
              <a:ext uri="{FF2B5EF4-FFF2-40B4-BE49-F238E27FC236}">
                <a16:creationId xmlns:a16="http://schemas.microsoft.com/office/drawing/2014/main" id="{A97326BF-410A-58C9-E63E-F543D95CD751}"/>
              </a:ext>
            </a:extLst>
          </p:cNvPr>
          <p:cNvSpPr txBox="1"/>
          <p:nvPr/>
        </p:nvSpPr>
        <p:spPr>
          <a:xfrm>
            <a:off x="224853" y="684763"/>
            <a:ext cx="6198432" cy="584775"/>
          </a:xfrm>
          <a:prstGeom prst="rect">
            <a:avLst/>
          </a:prstGeom>
          <a:noFill/>
        </p:spPr>
        <p:txBody>
          <a:bodyPr wrap="square">
            <a:spAutoFit/>
          </a:bodyPr>
          <a:lstStyle/>
          <a:p>
            <a:r>
              <a:rPr lang="en-GB" sz="3200" b="1" i="1" u="sng" dirty="0">
                <a:solidFill>
                  <a:srgbClr val="FFFF00"/>
                </a:solidFill>
                <a:latin typeface="Algerian" panose="04020705040A02060702" pitchFamily="82" charset="0"/>
              </a:rPr>
              <a:t>PROBLEM  STATEMENT:</a:t>
            </a:r>
            <a:endParaRPr lang="en-IN" sz="3200" dirty="0">
              <a:solidFill>
                <a:srgbClr val="FFFF00"/>
              </a:solidFill>
            </a:endParaRPr>
          </a:p>
        </p:txBody>
      </p:sp>
      <p:sp>
        <p:nvSpPr>
          <p:cNvPr id="6" name="TextBox 5">
            <a:extLst>
              <a:ext uri="{FF2B5EF4-FFF2-40B4-BE49-F238E27FC236}">
                <a16:creationId xmlns:a16="http://schemas.microsoft.com/office/drawing/2014/main" id="{40AA5638-94FF-E626-9B05-FCC1143490DC}"/>
              </a:ext>
            </a:extLst>
          </p:cNvPr>
          <p:cNvSpPr txBox="1"/>
          <p:nvPr/>
        </p:nvSpPr>
        <p:spPr>
          <a:xfrm>
            <a:off x="356016" y="1795153"/>
            <a:ext cx="4755630" cy="3785652"/>
          </a:xfrm>
          <a:prstGeom prst="rect">
            <a:avLst/>
          </a:prstGeom>
          <a:noFill/>
        </p:spPr>
        <p:txBody>
          <a:bodyPr wrap="square">
            <a:spAutoFit/>
          </a:bodyPr>
          <a:lstStyle/>
          <a:p>
            <a:r>
              <a:rPr lang="en-GB" sz="2000" dirty="0">
                <a:solidFill>
                  <a:srgbClr val="FFFF00"/>
                </a:solidFill>
                <a:latin typeface="Berlin Sans FB Demi" panose="020E0802020502020306" pitchFamily="34" charset="0"/>
                <a:cs typeface="Arial" panose="020B0604020202020204" pitchFamily="34" charset="0"/>
              </a:rPr>
              <a:t>Farmers face uncertainty in </a:t>
            </a:r>
            <a:r>
              <a:rPr lang="en-GB" sz="2000" b="1" dirty="0">
                <a:solidFill>
                  <a:srgbClr val="FFFF00"/>
                </a:solidFill>
                <a:latin typeface="Berlin Sans FB Demi" panose="020E0802020502020306" pitchFamily="34" charset="0"/>
                <a:cs typeface="Arial" panose="020B0604020202020204" pitchFamily="34" charset="0"/>
              </a:rPr>
              <a:t>crop yield and market demand</a:t>
            </a:r>
            <a:r>
              <a:rPr lang="en-GB" sz="2000" dirty="0">
                <a:solidFill>
                  <a:srgbClr val="FFFF00"/>
                </a:solidFill>
                <a:latin typeface="Berlin Sans FB Demi" panose="020E0802020502020306" pitchFamily="34" charset="0"/>
                <a:cs typeface="Arial" panose="020B0604020202020204" pitchFamily="34" charset="0"/>
              </a:rPr>
              <a:t> due to changing weather, cultivation conditions, and market prices. There is a need for an </a:t>
            </a:r>
            <a:r>
              <a:rPr lang="en-GB" sz="2000" b="1" dirty="0">
                <a:solidFill>
                  <a:srgbClr val="FFFF00"/>
                </a:solidFill>
                <a:latin typeface="Berlin Sans FB Demi" panose="020E0802020502020306" pitchFamily="34" charset="0"/>
                <a:cs typeface="Arial" panose="020B0604020202020204" pitchFamily="34" charset="0"/>
              </a:rPr>
              <a:t>AI-based forecasting system</a:t>
            </a:r>
            <a:r>
              <a:rPr lang="en-GB" sz="2000" dirty="0">
                <a:solidFill>
                  <a:srgbClr val="FFFF00"/>
                </a:solidFill>
                <a:latin typeface="Berlin Sans FB Demi" panose="020E0802020502020306" pitchFamily="34" charset="0"/>
                <a:cs typeface="Arial" panose="020B0604020202020204" pitchFamily="34" charset="0"/>
              </a:rPr>
              <a:t> that combines historical, weather, crop, and market data. The system should  predict </a:t>
            </a:r>
            <a:r>
              <a:rPr lang="en-GB" sz="2000" b="1" dirty="0">
                <a:solidFill>
                  <a:srgbClr val="FFFF00"/>
                </a:solidFill>
                <a:latin typeface="Berlin Sans FB Demi" panose="020E0802020502020306" pitchFamily="34" charset="0"/>
                <a:cs typeface="Arial" panose="020B0604020202020204" pitchFamily="34" charset="0"/>
              </a:rPr>
              <a:t>future crop yield and market demand</a:t>
            </a:r>
            <a:r>
              <a:rPr lang="en-GB" sz="2000" dirty="0">
                <a:solidFill>
                  <a:srgbClr val="FFFF00"/>
                </a:solidFill>
                <a:latin typeface="Berlin Sans FB Demi" panose="020E0802020502020306" pitchFamily="34" charset="0"/>
                <a:cs typeface="Arial" panose="020B0604020202020204" pitchFamily="34" charset="0"/>
              </a:rPr>
              <a:t> and identify potential supply–demand mismatches. This will support better </a:t>
            </a:r>
            <a:r>
              <a:rPr lang="en-GB" sz="2000" b="1" dirty="0">
                <a:solidFill>
                  <a:srgbClr val="FFFF00"/>
                </a:solidFill>
                <a:latin typeface="Berlin Sans FB Demi" panose="020E0802020502020306" pitchFamily="34" charset="0"/>
                <a:cs typeface="Arial" panose="020B0604020202020204" pitchFamily="34" charset="0"/>
              </a:rPr>
              <a:t>production, crop planning, and distribution decisions</a:t>
            </a:r>
            <a:endParaRPr lang="en-IN"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2_template.png"/>
          <p:cNvPicPr>
            <a:picLocks noChangeAspect="1"/>
          </p:cNvPicPr>
          <p:nvPr/>
        </p:nvPicPr>
        <p:blipFill>
          <a:blip r:embed="rId2"/>
          <a:stretch>
            <a:fillRect/>
          </a:stretch>
        </p:blipFill>
        <p:spPr>
          <a:xfrm>
            <a:off x="0" y="-14990"/>
            <a:ext cx="12191999" cy="6858000"/>
          </a:xfrm>
          <a:prstGeom prst="rect">
            <a:avLst/>
          </a:prstGeom>
        </p:spPr>
      </p:pic>
      <p:sp>
        <p:nvSpPr>
          <p:cNvPr id="4" name="TextBox 3">
            <a:extLst>
              <a:ext uri="{FF2B5EF4-FFF2-40B4-BE49-F238E27FC236}">
                <a16:creationId xmlns:a16="http://schemas.microsoft.com/office/drawing/2014/main" id="{16811B07-A1B6-85C8-AC7D-2E7B0AE3DB57}"/>
              </a:ext>
            </a:extLst>
          </p:cNvPr>
          <p:cNvSpPr txBox="1"/>
          <p:nvPr/>
        </p:nvSpPr>
        <p:spPr>
          <a:xfrm>
            <a:off x="5842416" y="834665"/>
            <a:ext cx="6198432" cy="523220"/>
          </a:xfrm>
          <a:prstGeom prst="rect">
            <a:avLst/>
          </a:prstGeom>
          <a:noFill/>
        </p:spPr>
        <p:txBody>
          <a:bodyPr wrap="square">
            <a:spAutoFit/>
          </a:bodyPr>
          <a:lstStyle/>
          <a:p>
            <a:r>
              <a:rPr lang="en-GB" sz="2800" b="1" i="1" u="sng" dirty="0">
                <a:solidFill>
                  <a:srgbClr val="FFFF00"/>
                </a:solidFill>
                <a:latin typeface="Algerian" panose="04020705040A02060702" pitchFamily="82" charset="0"/>
              </a:rPr>
              <a:t>PROBLEM  solution:</a:t>
            </a:r>
            <a:endParaRPr lang="en-IN" sz="2800" dirty="0">
              <a:solidFill>
                <a:srgbClr val="FFFF00"/>
              </a:solidFill>
            </a:endParaRPr>
          </a:p>
        </p:txBody>
      </p:sp>
      <p:sp>
        <p:nvSpPr>
          <p:cNvPr id="6" name="TextBox 5">
            <a:extLst>
              <a:ext uri="{FF2B5EF4-FFF2-40B4-BE49-F238E27FC236}">
                <a16:creationId xmlns:a16="http://schemas.microsoft.com/office/drawing/2014/main" id="{2F4DBBE4-8B7A-9619-0EFA-1B07B1448D2B}"/>
              </a:ext>
            </a:extLst>
          </p:cNvPr>
          <p:cNvSpPr txBox="1"/>
          <p:nvPr/>
        </p:nvSpPr>
        <p:spPr>
          <a:xfrm>
            <a:off x="5842416" y="2192550"/>
            <a:ext cx="5849912" cy="2862322"/>
          </a:xfrm>
          <a:prstGeom prst="rect">
            <a:avLst/>
          </a:prstGeom>
          <a:noFill/>
        </p:spPr>
        <p:txBody>
          <a:bodyPr wrap="square">
            <a:spAutoFit/>
          </a:bodyPr>
          <a:lstStyle/>
          <a:p>
            <a:r>
              <a:rPr lang="en-GB" sz="1800" b="1" dirty="0">
                <a:solidFill>
                  <a:srgbClr val="FFFF00"/>
                </a:solidFill>
                <a:latin typeface="Berlin Sans FB Demi" panose="020E0802020502020306" pitchFamily="34" charset="0"/>
              </a:rPr>
              <a:t>Agri Twin AI</a:t>
            </a:r>
            <a:r>
              <a:rPr lang="en-GB" sz="1800" dirty="0">
                <a:solidFill>
                  <a:srgbClr val="FFFF00"/>
                </a:solidFill>
                <a:latin typeface="Berlin Sans FB Demi" panose="020E0802020502020306" pitchFamily="34" charset="0"/>
              </a:rPr>
              <a:t> is an AI-powered smart agriculture platform that integrates </a:t>
            </a:r>
            <a:r>
              <a:rPr lang="en-GB" sz="1800" b="1" dirty="0">
                <a:solidFill>
                  <a:srgbClr val="FFFF00"/>
                </a:solidFill>
                <a:latin typeface="Berlin Sans FB Demi" panose="020E0802020502020306" pitchFamily="34" charset="0"/>
              </a:rPr>
              <a:t>IoT sensors, weather forecasting, market intelligence, and machine learning</a:t>
            </a:r>
            <a:r>
              <a:rPr lang="en-GB" sz="1800" dirty="0">
                <a:solidFill>
                  <a:srgbClr val="FFFF00"/>
                </a:solidFill>
                <a:latin typeface="Berlin Sans FB Demi" panose="020E0802020502020306" pitchFamily="34" charset="0"/>
              </a:rPr>
              <a:t> to support farmers in making data-driven decisions. The system continuously monitors field conditions such as soil moisture, temperature, and humidity, predicts crop yield and market demand, identifies potential risks, and recommends the most profitable crop. This helps farmers reduce losses, optimize resources, and improve overall productivity and profitability. </a:t>
            </a:r>
            <a:endParaRPr lang="en-IN" sz="1800" dirty="0">
              <a:solidFill>
                <a:srgbClr val="FFFF00"/>
              </a:solidFill>
              <a:latin typeface="Berlin Sans FB Demi" panose="020E0802020502020306"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4_template.png"/>
          <p:cNvPicPr>
            <a:picLocks noChangeAspect="1"/>
          </p:cNvPicPr>
          <p:nvPr/>
        </p:nvPicPr>
        <p:blipFill>
          <a:blip r:embed="rId2"/>
          <a:stretch>
            <a:fillRect/>
          </a:stretch>
        </p:blipFill>
        <p:spPr>
          <a:xfrm>
            <a:off x="0" y="0"/>
            <a:ext cx="12191999" cy="6858000"/>
          </a:xfrm>
          <a:prstGeom prst="rect">
            <a:avLst/>
          </a:prstGeom>
        </p:spPr>
      </p:pic>
      <p:sp>
        <p:nvSpPr>
          <p:cNvPr id="4" name="TextBox 3">
            <a:extLst>
              <a:ext uri="{FF2B5EF4-FFF2-40B4-BE49-F238E27FC236}">
                <a16:creationId xmlns:a16="http://schemas.microsoft.com/office/drawing/2014/main" id="{73C0F2A5-C97C-B50D-60B0-D0029BB6949C}"/>
              </a:ext>
            </a:extLst>
          </p:cNvPr>
          <p:cNvSpPr txBox="1"/>
          <p:nvPr/>
        </p:nvSpPr>
        <p:spPr>
          <a:xfrm>
            <a:off x="798226" y="538610"/>
            <a:ext cx="6093500" cy="2308324"/>
          </a:xfrm>
          <a:prstGeom prst="rect">
            <a:avLst/>
          </a:prstGeom>
          <a:noFill/>
        </p:spPr>
        <p:txBody>
          <a:bodyPr wrap="square">
            <a:spAutoFit/>
          </a:bodyPr>
          <a:lstStyle/>
          <a:p>
            <a:r>
              <a:rPr lang="en-GB" sz="2400" b="1" i="1" u="sng">
                <a:solidFill>
                  <a:srgbClr val="FFFF00"/>
                </a:solidFill>
                <a:latin typeface="Algerian" panose="04020705040A02060702" pitchFamily="82" charset="0"/>
              </a:rPr>
              <a:t>Feasibility:</a:t>
            </a:r>
          </a:p>
          <a:p>
            <a:endParaRPr lang="en-GB" sz="2400" b="1" i="1" u="sng">
              <a:solidFill>
                <a:srgbClr val="FFFF00"/>
              </a:solidFill>
              <a:latin typeface="Algerian" panose="04020705040A02060702" pitchFamily="82" charset="0"/>
            </a:endParaRPr>
          </a:p>
          <a:p>
            <a:r>
              <a:rPr lang="en-IN" sz="2400">
                <a:solidFill>
                  <a:srgbClr val="FFFF00"/>
                </a:solidFill>
                <a:latin typeface="Berlin Sans FB Demi" panose="020E0802020502020306" pitchFamily="34" charset="0"/>
              </a:rPr>
              <a:t>⁕ </a:t>
            </a:r>
            <a:r>
              <a:rPr lang="en-GB" sz="2400" b="1">
                <a:solidFill>
                  <a:srgbClr val="FFFF00"/>
                </a:solidFill>
                <a:latin typeface="Berlin Sans FB Demi" panose="020E0802020502020306" pitchFamily="34" charset="0"/>
              </a:rPr>
              <a:t>Low-cost hardware</a:t>
            </a:r>
            <a:r>
              <a:rPr lang="en-GB" sz="2400">
                <a:solidFill>
                  <a:srgbClr val="FFFF00"/>
                </a:solidFill>
                <a:latin typeface="Berlin Sans FB Demi" panose="020E0802020502020306" pitchFamily="34" charset="0"/>
              </a:rPr>
              <a:t> </a:t>
            </a:r>
          </a:p>
          <a:p>
            <a:r>
              <a:rPr lang="en-IN" sz="2400">
                <a:solidFill>
                  <a:srgbClr val="FFFF00"/>
                </a:solidFill>
                <a:latin typeface="Berlin Sans FB Demi" panose="020E0802020502020306" pitchFamily="34" charset="0"/>
              </a:rPr>
              <a:t>⁕ </a:t>
            </a:r>
            <a:r>
              <a:rPr lang="en-GB" sz="2400" b="1">
                <a:solidFill>
                  <a:srgbClr val="FFFF00"/>
                </a:solidFill>
                <a:latin typeface="Berlin Sans FB Demi" panose="020E0802020502020306" pitchFamily="34" charset="0"/>
              </a:rPr>
              <a:t>Available technologies</a:t>
            </a:r>
            <a:endParaRPr lang="en-GB" sz="2400">
              <a:solidFill>
                <a:srgbClr val="FFFF00"/>
              </a:solidFill>
              <a:latin typeface="Berlin Sans FB Demi" panose="020E0802020502020306" pitchFamily="34" charset="0"/>
            </a:endParaRPr>
          </a:p>
          <a:p>
            <a:r>
              <a:rPr lang="en-IN" sz="2400">
                <a:solidFill>
                  <a:srgbClr val="FFFF00"/>
                </a:solidFill>
                <a:latin typeface="Berlin Sans FB Demi" panose="020E0802020502020306" pitchFamily="34" charset="0"/>
              </a:rPr>
              <a:t>⁕ </a:t>
            </a:r>
            <a:r>
              <a:rPr lang="en-GB" sz="2400" b="1">
                <a:solidFill>
                  <a:srgbClr val="FFFF00"/>
                </a:solidFill>
                <a:latin typeface="Berlin Sans FB Demi" panose="020E0802020502020306" pitchFamily="34" charset="0"/>
              </a:rPr>
              <a:t>Real-time monitoring</a:t>
            </a:r>
            <a:endParaRPr lang="en-GB" sz="2400">
              <a:solidFill>
                <a:srgbClr val="FFFF00"/>
              </a:solidFill>
              <a:latin typeface="Berlin Sans FB Demi" panose="020E0802020502020306" pitchFamily="34" charset="0"/>
            </a:endParaRPr>
          </a:p>
          <a:p>
            <a:r>
              <a:rPr lang="en-IN" sz="2400">
                <a:solidFill>
                  <a:srgbClr val="FFFF00"/>
                </a:solidFill>
                <a:latin typeface="Berlin Sans FB Demi" panose="020E0802020502020306" pitchFamily="34" charset="0"/>
              </a:rPr>
              <a:t>⁕ </a:t>
            </a:r>
            <a:r>
              <a:rPr lang="en-GB" sz="2400" b="1">
                <a:solidFill>
                  <a:srgbClr val="FFFF00"/>
                </a:solidFill>
                <a:latin typeface="Berlin Sans FB Demi" panose="020E0802020502020306" pitchFamily="34" charset="0"/>
              </a:rPr>
              <a:t>Easy implementation</a:t>
            </a:r>
            <a:r>
              <a:rPr lang="en-GB" sz="2400">
                <a:solidFill>
                  <a:srgbClr val="FFFF00"/>
                </a:solidFill>
                <a:latin typeface="Berlin Sans FB Demi" panose="020E0802020502020306" pitchFamily="34" charset="0"/>
              </a:rPr>
              <a:t> </a:t>
            </a:r>
            <a:endParaRPr lang="en-GB" sz="2400" dirty="0">
              <a:solidFill>
                <a:srgbClr val="FFFF00"/>
              </a:solidFill>
              <a:latin typeface="Berlin Sans FB Demi" panose="020E0802020502020306" pitchFamily="34" charset="0"/>
            </a:endParaRPr>
          </a:p>
        </p:txBody>
      </p:sp>
      <p:sp>
        <p:nvSpPr>
          <p:cNvPr id="6" name="TextBox 5">
            <a:extLst>
              <a:ext uri="{FF2B5EF4-FFF2-40B4-BE49-F238E27FC236}">
                <a16:creationId xmlns:a16="http://schemas.microsoft.com/office/drawing/2014/main" id="{C7627B6A-F5B4-AAA5-9014-DDD066C3D6A5}"/>
              </a:ext>
            </a:extLst>
          </p:cNvPr>
          <p:cNvSpPr txBox="1"/>
          <p:nvPr/>
        </p:nvSpPr>
        <p:spPr>
          <a:xfrm>
            <a:off x="798226" y="2961836"/>
            <a:ext cx="6198432" cy="2308324"/>
          </a:xfrm>
          <a:prstGeom prst="rect">
            <a:avLst/>
          </a:prstGeom>
          <a:noFill/>
        </p:spPr>
        <p:txBody>
          <a:bodyPr wrap="square">
            <a:spAutoFit/>
          </a:bodyPr>
          <a:lstStyle/>
          <a:p>
            <a:r>
              <a:rPr lang="en-GB" sz="2400" b="1" i="1" u="sng" dirty="0">
                <a:solidFill>
                  <a:srgbClr val="FFFF00"/>
                </a:solidFill>
                <a:latin typeface="Algerian" panose="04020705040A02060702" pitchFamily="82" charset="0"/>
              </a:rPr>
              <a:t>Viability:</a:t>
            </a:r>
          </a:p>
          <a:p>
            <a:endParaRPr lang="en-GB" sz="2400" b="1" i="1" u="sng" dirty="0">
              <a:solidFill>
                <a:srgbClr val="FFFF00"/>
              </a:solidFill>
            </a:endParaRPr>
          </a:p>
          <a:p>
            <a:r>
              <a:rPr lang="en-IN" sz="2400" dirty="0">
                <a:solidFill>
                  <a:srgbClr val="FFFF00"/>
                </a:solidFill>
              </a:rPr>
              <a:t> </a:t>
            </a:r>
            <a:r>
              <a:rPr lang="en-IN" sz="2400" dirty="0">
                <a:solidFill>
                  <a:srgbClr val="FFFF00"/>
                </a:solidFill>
                <a:latin typeface="Berlin Sans FB Demi" panose="020E0802020502020306" pitchFamily="34" charset="0"/>
              </a:rPr>
              <a:t>⁕ </a:t>
            </a:r>
            <a:r>
              <a:rPr lang="en-GB" sz="2400" b="1" dirty="0">
                <a:solidFill>
                  <a:srgbClr val="FFFF00"/>
                </a:solidFill>
                <a:latin typeface="Berlin Sans FB Demi" panose="020E0802020502020306" pitchFamily="34" charset="0"/>
              </a:rPr>
              <a:t>Reduces crop losses</a:t>
            </a:r>
            <a:r>
              <a:rPr lang="en-GB" sz="2400" dirty="0">
                <a:solidFill>
                  <a:srgbClr val="FFFF00"/>
                </a:solidFill>
                <a:latin typeface="Berlin Sans FB Demi" panose="020E0802020502020306" pitchFamily="34" charset="0"/>
              </a:rPr>
              <a:t> </a:t>
            </a:r>
          </a:p>
          <a:p>
            <a:r>
              <a:rPr lang="en-IN" sz="2400" dirty="0">
                <a:solidFill>
                  <a:srgbClr val="FFFF00"/>
                </a:solidFill>
                <a:latin typeface="Berlin Sans FB Demi" panose="020E0802020502020306" pitchFamily="34" charset="0"/>
              </a:rPr>
              <a:t> ⁕ </a:t>
            </a:r>
            <a:r>
              <a:rPr lang="en-GB" sz="2400" b="1" dirty="0">
                <a:solidFill>
                  <a:srgbClr val="FFFF00"/>
                </a:solidFill>
                <a:latin typeface="Berlin Sans FB Demi" panose="020E0802020502020306" pitchFamily="34" charset="0"/>
              </a:rPr>
              <a:t>Improves farmer </a:t>
            </a:r>
            <a:r>
              <a:rPr lang="en-IN" sz="2400" dirty="0">
                <a:solidFill>
                  <a:srgbClr val="FFFF00"/>
                </a:solidFill>
                <a:latin typeface="Berlin Sans FB Demi" panose="020E0802020502020306" pitchFamily="34" charset="0"/>
              </a:rPr>
              <a:t>profitability</a:t>
            </a:r>
            <a:endParaRPr lang="en-GB" sz="2400" b="1" dirty="0">
              <a:solidFill>
                <a:srgbClr val="FFFF00"/>
              </a:solidFill>
              <a:latin typeface="Berlin Sans FB Demi" panose="020E0802020502020306" pitchFamily="34" charset="0"/>
            </a:endParaRPr>
          </a:p>
          <a:p>
            <a:r>
              <a:rPr lang="en-GB" sz="2400" b="1" dirty="0">
                <a:solidFill>
                  <a:srgbClr val="FFFF00"/>
                </a:solidFill>
                <a:latin typeface="Berlin Sans FB Demi" panose="020E0802020502020306" pitchFamily="34" charset="0"/>
              </a:rPr>
              <a:t> </a:t>
            </a:r>
            <a:r>
              <a:rPr lang="en-IN" sz="2400" dirty="0">
                <a:solidFill>
                  <a:srgbClr val="FFFF00"/>
                </a:solidFill>
                <a:latin typeface="Berlin Sans FB Demi" panose="020E0802020502020306" pitchFamily="34" charset="0"/>
              </a:rPr>
              <a:t>⁕ </a:t>
            </a:r>
            <a:r>
              <a:rPr lang="en-GB" sz="2400" b="1" dirty="0">
                <a:solidFill>
                  <a:srgbClr val="FFFF00"/>
                </a:solidFill>
                <a:latin typeface="Berlin Sans FB Demi" panose="020E0802020502020306" pitchFamily="34" charset="0"/>
              </a:rPr>
              <a:t>Saves resources</a:t>
            </a:r>
          </a:p>
          <a:p>
            <a:r>
              <a:rPr lang="en-GB" sz="2400" dirty="0">
                <a:solidFill>
                  <a:srgbClr val="FFFF00"/>
                </a:solidFill>
                <a:latin typeface="Berlin Sans FB Demi" panose="020E0802020502020306" pitchFamily="34" charset="0"/>
              </a:rPr>
              <a:t> </a:t>
            </a:r>
            <a:r>
              <a:rPr lang="en-IN" sz="2400" dirty="0">
                <a:solidFill>
                  <a:srgbClr val="FFFF00"/>
                </a:solidFill>
                <a:latin typeface="Berlin Sans FB Demi" panose="020E0802020502020306" pitchFamily="34" charset="0"/>
              </a:rPr>
              <a:t>⁕ </a:t>
            </a:r>
            <a:r>
              <a:rPr lang="en-GB" sz="2400" b="1" dirty="0">
                <a:solidFill>
                  <a:srgbClr val="FFFF00"/>
                </a:solidFill>
                <a:latin typeface="Berlin Sans FB Demi" panose="020E0802020502020306" pitchFamily="34" charset="0"/>
              </a:rPr>
              <a:t>Scalable solution</a:t>
            </a:r>
            <a:endParaRPr lang="en-GB" sz="2400" dirty="0">
              <a:solidFill>
                <a:srgbClr val="FFFF00"/>
              </a:solidFill>
              <a:latin typeface="Berlin Sans FB Demi" panose="020E0802020502020306" pitchFamily="34" charset="0"/>
            </a:endParaRPr>
          </a:p>
        </p:txBody>
      </p:sp>
      <p:pic>
        <p:nvPicPr>
          <p:cNvPr id="8" name="Picture 7">
            <a:extLst>
              <a:ext uri="{FF2B5EF4-FFF2-40B4-BE49-F238E27FC236}">
                <a16:creationId xmlns:a16="http://schemas.microsoft.com/office/drawing/2014/main" id="{8653356B-4B36-E4B7-A474-D8E3DB62DEAE}"/>
              </a:ext>
            </a:extLst>
          </p:cNvPr>
          <p:cNvPicPr>
            <a:picLocks noChangeAspect="1"/>
          </p:cNvPicPr>
          <p:nvPr/>
        </p:nvPicPr>
        <p:blipFill>
          <a:blip r:embed="rId3"/>
          <a:stretch>
            <a:fillRect/>
          </a:stretch>
        </p:blipFill>
        <p:spPr>
          <a:xfrm>
            <a:off x="5269413" y="799141"/>
            <a:ext cx="3244626" cy="2310102"/>
          </a:xfrm>
          <a:prstGeom prst="rect">
            <a:avLst/>
          </a:prstGeom>
          <a:effectLst>
            <a:outerShdw blurRad="76200" dist="12700" dir="2700000" sy="-23000" kx="-800400" algn="bl" rotWithShape="0">
              <a:prstClr val="black">
                <a:alpha val="20000"/>
              </a:prstClr>
            </a:outerShdw>
          </a:effectLst>
          <a:scene3d>
            <a:camera prst="orthographicFront"/>
            <a:lightRig rig="threePt" dir="t"/>
          </a:scene3d>
          <a:sp3d>
            <a:bevelT w="165100" prst="coolSlant"/>
          </a:sp3d>
        </p:spPr>
      </p:pic>
      <p:pic>
        <p:nvPicPr>
          <p:cNvPr id="12" name="Picture 11">
            <a:extLst>
              <a:ext uri="{FF2B5EF4-FFF2-40B4-BE49-F238E27FC236}">
                <a16:creationId xmlns:a16="http://schemas.microsoft.com/office/drawing/2014/main" id="{9B3B0117-C203-D75E-9203-3239C80C221C}"/>
              </a:ext>
            </a:extLst>
          </p:cNvPr>
          <p:cNvPicPr>
            <a:picLocks noChangeAspect="1"/>
          </p:cNvPicPr>
          <p:nvPr/>
        </p:nvPicPr>
        <p:blipFill>
          <a:blip r:embed="rId4"/>
          <a:stretch>
            <a:fillRect/>
          </a:stretch>
        </p:blipFill>
        <p:spPr>
          <a:xfrm>
            <a:off x="7644647" y="3614958"/>
            <a:ext cx="3358134" cy="2443901"/>
          </a:xfrm>
          <a:prstGeom prst="rect">
            <a:avLst/>
          </a:prstGeom>
          <a:effectLst>
            <a:outerShdw blurRad="76200" dist="12700" dir="2700000" sy="-23000" kx="-800400" algn="bl" rotWithShape="0">
              <a:prstClr val="black">
                <a:alpha val="20000"/>
              </a:prstClr>
            </a:outerShdw>
          </a:effectLst>
          <a:scene3d>
            <a:camera prst="orthographicFront"/>
            <a:lightRig rig="threePt" dir="t"/>
          </a:scene3d>
          <a:sp3d>
            <a:bevelT prst="angle"/>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5_template.png"/>
          <p:cNvPicPr>
            <a:picLocks noChangeAspect="1"/>
          </p:cNvPicPr>
          <p:nvPr/>
        </p:nvPicPr>
        <p:blipFill>
          <a:blip r:embed="rId2"/>
          <a:stretch>
            <a:fillRect/>
          </a:stretch>
        </p:blipFill>
        <p:spPr>
          <a:xfrm>
            <a:off x="0" y="0"/>
            <a:ext cx="12191999" cy="6858000"/>
          </a:xfrm>
          <a:prstGeom prst="rect">
            <a:avLst/>
          </a:prstGeom>
        </p:spPr>
      </p:pic>
      <p:pic>
        <p:nvPicPr>
          <p:cNvPr id="4" name="Picture 3">
            <a:extLst>
              <a:ext uri="{FF2B5EF4-FFF2-40B4-BE49-F238E27FC236}">
                <a16:creationId xmlns:a16="http://schemas.microsoft.com/office/drawing/2014/main" id="{85BFD7D5-E4AA-A40B-2DAA-5FC1E549790D}"/>
              </a:ext>
            </a:extLst>
          </p:cNvPr>
          <p:cNvPicPr>
            <a:picLocks noChangeAspect="1"/>
          </p:cNvPicPr>
          <p:nvPr/>
        </p:nvPicPr>
        <p:blipFill>
          <a:blip r:embed="rId3"/>
          <a:stretch>
            <a:fillRect/>
          </a:stretch>
        </p:blipFill>
        <p:spPr>
          <a:xfrm>
            <a:off x="-2499" y="-3748"/>
            <a:ext cx="12192000" cy="6858000"/>
          </a:xfrm>
          <a:prstGeom prst="rect">
            <a:avLst/>
          </a:prstGeom>
        </p:spPr>
      </p:pic>
      <p:sp>
        <p:nvSpPr>
          <p:cNvPr id="6" name="TextBox 5">
            <a:extLst>
              <a:ext uri="{FF2B5EF4-FFF2-40B4-BE49-F238E27FC236}">
                <a16:creationId xmlns:a16="http://schemas.microsoft.com/office/drawing/2014/main" id="{E7340FB8-44C4-1242-0ED9-4DF89F3CEAE9}"/>
              </a:ext>
            </a:extLst>
          </p:cNvPr>
          <p:cNvSpPr txBox="1"/>
          <p:nvPr/>
        </p:nvSpPr>
        <p:spPr>
          <a:xfrm>
            <a:off x="828206" y="667541"/>
            <a:ext cx="6093500" cy="2800767"/>
          </a:xfrm>
          <a:prstGeom prst="rect">
            <a:avLst/>
          </a:prstGeom>
          <a:noFill/>
        </p:spPr>
        <p:txBody>
          <a:bodyPr wrap="square">
            <a:spAutoFit/>
          </a:bodyPr>
          <a:lstStyle/>
          <a:p>
            <a:r>
              <a:rPr lang="en-GB" sz="2800" b="1" i="1" u="sng" dirty="0">
                <a:solidFill>
                  <a:srgbClr val="FFFF00"/>
                </a:solidFill>
                <a:latin typeface="Algerian" panose="04020705040A02060702" pitchFamily="82" charset="0"/>
              </a:rPr>
              <a:t>IMPACT:</a:t>
            </a:r>
          </a:p>
          <a:p>
            <a:endParaRPr lang="en-GB" sz="2800" b="1" i="1" u="sng" dirty="0">
              <a:solidFill>
                <a:srgbClr val="FFFF00"/>
              </a:solidFill>
            </a:endParaRPr>
          </a:p>
          <a:p>
            <a:pPr>
              <a:buFont typeface="+mj-lt"/>
              <a:buAutoNum type="arabicPeriod"/>
            </a:pPr>
            <a:r>
              <a:rPr lang="en-GB" sz="2400" b="1" dirty="0">
                <a:solidFill>
                  <a:srgbClr val="FFFF00"/>
                </a:solidFill>
                <a:latin typeface="Berlin Sans FB Demi" panose="020E0802020502020306" pitchFamily="34" charset="0"/>
              </a:rPr>
              <a:t>Improves Crop Productivity</a:t>
            </a:r>
            <a:r>
              <a:rPr lang="en-GB" sz="2400" dirty="0">
                <a:solidFill>
                  <a:srgbClr val="FFFF00"/>
                </a:solidFill>
                <a:latin typeface="Berlin Sans FB Demi" panose="020E0802020502020306" pitchFamily="34" charset="0"/>
              </a:rPr>
              <a:t> </a:t>
            </a:r>
          </a:p>
          <a:p>
            <a:pPr>
              <a:buFont typeface="+mj-lt"/>
              <a:buAutoNum type="arabicPeriod"/>
            </a:pPr>
            <a:r>
              <a:rPr lang="en-GB" sz="2400" b="1" dirty="0">
                <a:solidFill>
                  <a:srgbClr val="FFFF00"/>
                </a:solidFill>
                <a:latin typeface="Berlin Sans FB Demi" panose="020E0802020502020306" pitchFamily="34" charset="0"/>
              </a:rPr>
              <a:t>Reduces Crop Losses</a:t>
            </a:r>
            <a:r>
              <a:rPr lang="en-GB" sz="2400" dirty="0">
                <a:solidFill>
                  <a:srgbClr val="FFFF00"/>
                </a:solidFill>
                <a:latin typeface="Berlin Sans FB Demi" panose="020E0802020502020306" pitchFamily="34" charset="0"/>
              </a:rPr>
              <a:t> </a:t>
            </a:r>
          </a:p>
          <a:p>
            <a:pPr>
              <a:buFont typeface="+mj-lt"/>
              <a:buAutoNum type="arabicPeriod"/>
            </a:pPr>
            <a:r>
              <a:rPr lang="en-GB" sz="2400" b="1" dirty="0">
                <a:solidFill>
                  <a:srgbClr val="FFFF00"/>
                </a:solidFill>
                <a:latin typeface="Berlin Sans FB Demi" panose="020E0802020502020306" pitchFamily="34" charset="0"/>
              </a:rPr>
              <a:t>Supports Sustainable Farming</a:t>
            </a:r>
            <a:r>
              <a:rPr lang="en-GB" sz="2400" dirty="0">
                <a:solidFill>
                  <a:srgbClr val="FFFF00"/>
                </a:solidFill>
                <a:latin typeface="Berlin Sans FB Demi" panose="020E0802020502020306" pitchFamily="34" charset="0"/>
              </a:rPr>
              <a:t> </a:t>
            </a:r>
          </a:p>
          <a:p>
            <a:pPr>
              <a:buFont typeface="+mj-lt"/>
              <a:buAutoNum type="arabicPeriod"/>
            </a:pPr>
            <a:r>
              <a:rPr lang="en-GB" sz="2400" b="1" dirty="0">
                <a:solidFill>
                  <a:srgbClr val="FFFF00"/>
                </a:solidFill>
                <a:latin typeface="Berlin Sans FB Demi" panose="020E0802020502020306" pitchFamily="34" charset="0"/>
              </a:rPr>
              <a:t>Improves Food Supply Planning</a:t>
            </a:r>
            <a:r>
              <a:rPr lang="en-GB" sz="2400" dirty="0">
                <a:solidFill>
                  <a:srgbClr val="FFFF00"/>
                </a:solidFill>
                <a:latin typeface="Berlin Sans FB Demi" panose="020E0802020502020306" pitchFamily="34" charset="0"/>
              </a:rPr>
              <a:t> </a:t>
            </a:r>
          </a:p>
          <a:p>
            <a:pPr>
              <a:buFont typeface="+mj-lt"/>
              <a:buAutoNum type="arabicPeriod"/>
            </a:pPr>
            <a:r>
              <a:rPr lang="en-GB" sz="2400" b="1" dirty="0">
                <a:solidFill>
                  <a:srgbClr val="FFFF00"/>
                </a:solidFill>
                <a:latin typeface="Berlin Sans FB Demi" panose="020E0802020502020306" pitchFamily="34" charset="0"/>
              </a:rPr>
              <a:t>Supports Climate-Resilient Agriculture</a:t>
            </a:r>
            <a:r>
              <a:rPr lang="en-GB" sz="2400" dirty="0">
                <a:solidFill>
                  <a:srgbClr val="FFFF00"/>
                </a:solidFill>
                <a:latin typeface="Berlin Sans FB Demi" panose="020E0802020502020306" pitchFamily="34" charset="0"/>
              </a:rPr>
              <a:t> </a:t>
            </a:r>
          </a:p>
        </p:txBody>
      </p:sp>
      <p:sp>
        <p:nvSpPr>
          <p:cNvPr id="8" name="TextBox 7">
            <a:extLst>
              <a:ext uri="{FF2B5EF4-FFF2-40B4-BE49-F238E27FC236}">
                <a16:creationId xmlns:a16="http://schemas.microsoft.com/office/drawing/2014/main" id="{DAD52E13-9C20-A56E-7331-886B8B7ACDF9}"/>
              </a:ext>
            </a:extLst>
          </p:cNvPr>
          <p:cNvSpPr txBox="1"/>
          <p:nvPr/>
        </p:nvSpPr>
        <p:spPr>
          <a:xfrm>
            <a:off x="828206" y="3703285"/>
            <a:ext cx="6198432" cy="2739211"/>
          </a:xfrm>
          <a:prstGeom prst="rect">
            <a:avLst/>
          </a:prstGeom>
          <a:noFill/>
        </p:spPr>
        <p:txBody>
          <a:bodyPr wrap="square">
            <a:spAutoFit/>
          </a:bodyPr>
          <a:lstStyle/>
          <a:p>
            <a:r>
              <a:rPr lang="en-GB" sz="2800" b="1" i="1" u="sng" dirty="0">
                <a:solidFill>
                  <a:srgbClr val="FFFF00"/>
                </a:solidFill>
                <a:latin typeface="Algerian" panose="04020705040A02060702" pitchFamily="82" charset="0"/>
              </a:rPr>
              <a:t>BENEFITS:</a:t>
            </a:r>
          </a:p>
          <a:p>
            <a:endParaRPr lang="en-GB" sz="2400" b="1" i="1" u="sng" dirty="0">
              <a:solidFill>
                <a:srgbClr val="FFFF00"/>
              </a:solidFill>
            </a:endParaRPr>
          </a:p>
          <a:p>
            <a:pPr>
              <a:buFont typeface="+mj-lt"/>
              <a:buAutoNum type="arabicPeriod"/>
            </a:pPr>
            <a:r>
              <a:rPr lang="en-GB" sz="2400" b="1" dirty="0">
                <a:solidFill>
                  <a:srgbClr val="FFFF00"/>
                </a:solidFill>
                <a:latin typeface="Berlin Sans FB Demi" panose="020E0802020502020306" pitchFamily="34" charset="0"/>
              </a:rPr>
              <a:t>Higher Farmer Profitability</a:t>
            </a:r>
            <a:r>
              <a:rPr lang="en-GB" sz="2400" dirty="0">
                <a:solidFill>
                  <a:srgbClr val="FFFF00"/>
                </a:solidFill>
                <a:latin typeface="Berlin Sans FB Demi" panose="020E0802020502020306" pitchFamily="34" charset="0"/>
              </a:rPr>
              <a:t> </a:t>
            </a:r>
          </a:p>
          <a:p>
            <a:pPr>
              <a:buFont typeface="+mj-lt"/>
              <a:buAutoNum type="arabicPeriod"/>
            </a:pPr>
            <a:r>
              <a:rPr lang="en-GB" sz="2400" b="1" dirty="0">
                <a:solidFill>
                  <a:srgbClr val="FFFF00"/>
                </a:solidFill>
                <a:latin typeface="Berlin Sans FB Demi" panose="020E0802020502020306" pitchFamily="34" charset="0"/>
              </a:rPr>
              <a:t>Smart Irrigation</a:t>
            </a:r>
            <a:r>
              <a:rPr lang="en-GB" sz="2400" dirty="0">
                <a:solidFill>
                  <a:srgbClr val="FFFF00"/>
                </a:solidFill>
                <a:latin typeface="Berlin Sans FB Demi" panose="020E0802020502020306" pitchFamily="34" charset="0"/>
              </a:rPr>
              <a:t> </a:t>
            </a:r>
          </a:p>
          <a:p>
            <a:pPr>
              <a:buFont typeface="+mj-lt"/>
              <a:buAutoNum type="arabicPeriod"/>
            </a:pPr>
            <a:r>
              <a:rPr lang="en-GB" sz="2400" b="1" dirty="0">
                <a:solidFill>
                  <a:srgbClr val="FFFF00"/>
                </a:solidFill>
                <a:latin typeface="Berlin Sans FB Demi" panose="020E0802020502020306" pitchFamily="34" charset="0"/>
              </a:rPr>
              <a:t>Real-Time Monitoring</a:t>
            </a:r>
            <a:r>
              <a:rPr lang="en-GB" sz="2400" dirty="0">
                <a:solidFill>
                  <a:srgbClr val="FFFF00"/>
                </a:solidFill>
                <a:latin typeface="Berlin Sans FB Demi" panose="020E0802020502020306" pitchFamily="34" charset="0"/>
              </a:rPr>
              <a:t> </a:t>
            </a:r>
            <a:r>
              <a:rPr lang="en-GB" sz="2400" b="1" dirty="0">
                <a:solidFill>
                  <a:srgbClr val="FFFF00"/>
                </a:solidFill>
                <a:latin typeface="Berlin Sans FB Demi" panose="020E0802020502020306" pitchFamily="34" charset="0"/>
              </a:rPr>
              <a:t>Better Market Decisions</a:t>
            </a:r>
            <a:endParaRPr lang="en-GB" sz="2400" dirty="0">
              <a:solidFill>
                <a:srgbClr val="FFFF00"/>
              </a:solidFill>
              <a:latin typeface="Berlin Sans FB Demi" panose="020E0802020502020306" pitchFamily="34" charset="0"/>
            </a:endParaRPr>
          </a:p>
          <a:p>
            <a:pPr>
              <a:buFont typeface="+mj-lt"/>
              <a:buAutoNum type="arabicPeriod"/>
            </a:pPr>
            <a:r>
              <a:rPr lang="en-GB" sz="2400" b="1" dirty="0">
                <a:solidFill>
                  <a:srgbClr val="FFFF00"/>
                </a:solidFill>
                <a:latin typeface="Berlin Sans FB Demi" panose="020E0802020502020306" pitchFamily="34" charset="0"/>
              </a:rPr>
              <a:t>Easy Decision Making</a:t>
            </a:r>
            <a:r>
              <a:rPr lang="en-GB" sz="2400" dirty="0">
                <a:solidFill>
                  <a:srgbClr val="FFFF00"/>
                </a:solidFill>
                <a:latin typeface="Berlin Sans FB Demi" panose="020E0802020502020306"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6_template.png"/>
          <p:cNvPicPr>
            <a:picLocks noChangeAspect="1"/>
          </p:cNvPicPr>
          <p:nvPr/>
        </p:nvPicPr>
        <p:blipFill>
          <a:blip r:embed="rId2"/>
          <a:stretch>
            <a:fillRect/>
          </a:stretch>
        </p:blipFill>
        <p:spPr>
          <a:xfrm>
            <a:off x="1" y="0"/>
            <a:ext cx="12191999" cy="6858000"/>
          </a:xfrm>
          <a:prstGeom prst="rect">
            <a:avLst/>
          </a:prstGeom>
        </p:spPr>
      </p:pic>
      <p:sp>
        <p:nvSpPr>
          <p:cNvPr id="4" name="TextBox 3">
            <a:extLst>
              <a:ext uri="{FF2B5EF4-FFF2-40B4-BE49-F238E27FC236}">
                <a16:creationId xmlns:a16="http://schemas.microsoft.com/office/drawing/2014/main" id="{6A0BA93C-9F63-2451-8E01-2FA8FC8191E7}"/>
              </a:ext>
            </a:extLst>
          </p:cNvPr>
          <p:cNvSpPr txBox="1"/>
          <p:nvPr/>
        </p:nvSpPr>
        <p:spPr>
          <a:xfrm>
            <a:off x="5891132" y="967026"/>
            <a:ext cx="6093500" cy="4739759"/>
          </a:xfrm>
          <a:prstGeom prst="rect">
            <a:avLst/>
          </a:prstGeom>
          <a:noFill/>
        </p:spPr>
        <p:txBody>
          <a:bodyPr wrap="square">
            <a:spAutoFit/>
          </a:bodyPr>
          <a:lstStyle/>
          <a:p>
            <a:r>
              <a:rPr lang="en-GB" sz="3200" b="1" i="1" u="sng" dirty="0">
                <a:solidFill>
                  <a:srgbClr val="FFFF00"/>
                </a:solidFill>
                <a:latin typeface="Algerian" panose="04020705040A02060702" pitchFamily="82" charset="0"/>
              </a:rPr>
              <a:t>NOVELTY:</a:t>
            </a:r>
          </a:p>
          <a:p>
            <a:endParaRPr lang="en-GB" sz="1800" b="1" dirty="0">
              <a:solidFill>
                <a:srgbClr val="FFFF00"/>
              </a:solidFill>
            </a:endParaRPr>
          </a:p>
          <a:p>
            <a:pPr>
              <a:buFont typeface="Arial" panose="020B0604020202020204" pitchFamily="34" charset="0"/>
              <a:buChar char="•"/>
            </a:pPr>
            <a:r>
              <a:rPr lang="en-GB" sz="1800" b="1" dirty="0">
                <a:solidFill>
                  <a:srgbClr val="FFFF00"/>
                </a:solidFill>
                <a:latin typeface="Berlin Sans FB Demi" panose="020E0802020502020306" pitchFamily="34" charset="0"/>
              </a:rPr>
              <a:t>Integrated Supply–Demand Forecasting</a:t>
            </a:r>
            <a:r>
              <a:rPr lang="en-GB" sz="1800" dirty="0">
                <a:solidFill>
                  <a:srgbClr val="FFFF00"/>
                </a:solidFill>
                <a:latin typeface="Berlin Sans FB Demi" panose="020E0802020502020306" pitchFamily="34" charset="0"/>
              </a:rPr>
              <a:t> – Predicts both crop yield and market demand in one platform. </a:t>
            </a:r>
          </a:p>
          <a:p>
            <a:pPr>
              <a:buFont typeface="Arial" panose="020B0604020202020204" pitchFamily="34" charset="0"/>
              <a:buChar char="•"/>
            </a:pPr>
            <a:endParaRPr lang="en-GB" sz="1800" dirty="0">
              <a:solidFill>
                <a:srgbClr val="FFFF00"/>
              </a:solidFill>
              <a:latin typeface="Berlin Sans FB Demi" panose="020E0802020502020306" pitchFamily="34" charset="0"/>
            </a:endParaRPr>
          </a:p>
          <a:p>
            <a:pPr>
              <a:buFont typeface="Arial" panose="020B0604020202020204" pitchFamily="34" charset="0"/>
              <a:buChar char="•"/>
            </a:pPr>
            <a:r>
              <a:rPr lang="en-GB" sz="1800" b="1" dirty="0">
                <a:solidFill>
                  <a:srgbClr val="FFFF00"/>
                </a:solidFill>
                <a:latin typeface="Berlin Sans FB Demi" panose="020E0802020502020306" pitchFamily="34" charset="0"/>
              </a:rPr>
              <a:t>Profit-Based Crop Recommendation</a:t>
            </a:r>
            <a:r>
              <a:rPr lang="en-GB" sz="1800" dirty="0">
                <a:solidFill>
                  <a:srgbClr val="FFFF00"/>
                </a:solidFill>
                <a:latin typeface="Berlin Sans FB Demi" panose="020E0802020502020306" pitchFamily="34" charset="0"/>
              </a:rPr>
              <a:t> – Combines yield, price, and demand to suggest suitable crops.</a:t>
            </a:r>
          </a:p>
          <a:p>
            <a:endParaRPr lang="en-GB" sz="1800" dirty="0">
              <a:solidFill>
                <a:srgbClr val="FFFF00"/>
              </a:solidFill>
              <a:latin typeface="Berlin Sans FB Demi" panose="020E0802020502020306" pitchFamily="34" charset="0"/>
            </a:endParaRPr>
          </a:p>
          <a:p>
            <a:pPr>
              <a:buFont typeface="Arial" panose="020B0604020202020204" pitchFamily="34" charset="0"/>
              <a:buChar char="•"/>
            </a:pPr>
            <a:r>
              <a:rPr lang="en-GB" sz="1800" b="1" dirty="0">
                <a:solidFill>
                  <a:srgbClr val="FFFF00"/>
                </a:solidFill>
                <a:latin typeface="Berlin Sans FB Demi" panose="020E0802020502020306" pitchFamily="34" charset="0"/>
              </a:rPr>
              <a:t>Dynamic AI Re-Prediction</a:t>
            </a:r>
            <a:r>
              <a:rPr lang="en-GB" sz="1800" dirty="0">
                <a:solidFill>
                  <a:srgbClr val="FFFF00"/>
                </a:solidFill>
                <a:latin typeface="Berlin Sans FB Demi" panose="020E0802020502020306" pitchFamily="34" charset="0"/>
              </a:rPr>
              <a:t> – Continuously updates predictions using new sensor and weather data. </a:t>
            </a:r>
          </a:p>
          <a:p>
            <a:pPr>
              <a:buFont typeface="Arial" panose="020B0604020202020204" pitchFamily="34" charset="0"/>
              <a:buChar char="•"/>
            </a:pPr>
            <a:endParaRPr lang="en-GB" sz="1800" dirty="0">
              <a:solidFill>
                <a:srgbClr val="FFFF00"/>
              </a:solidFill>
              <a:latin typeface="Berlin Sans FB Demi" panose="020E0802020502020306" pitchFamily="34" charset="0"/>
            </a:endParaRPr>
          </a:p>
          <a:p>
            <a:pPr>
              <a:buFont typeface="Arial" panose="020B0604020202020204" pitchFamily="34" charset="0"/>
              <a:buChar char="•"/>
            </a:pPr>
            <a:r>
              <a:rPr lang="en-GB" sz="1800" b="1" dirty="0">
                <a:solidFill>
                  <a:srgbClr val="FFFF00"/>
                </a:solidFill>
                <a:latin typeface="Berlin Sans FB Demi" panose="020E0802020502020306" pitchFamily="34" charset="0"/>
              </a:rPr>
              <a:t>Multi-Risk Intelligence</a:t>
            </a:r>
            <a:r>
              <a:rPr lang="en-GB" sz="1800" dirty="0">
                <a:solidFill>
                  <a:srgbClr val="FFFF00"/>
                </a:solidFill>
                <a:latin typeface="Berlin Sans FB Demi" panose="020E0802020502020306" pitchFamily="34" charset="0"/>
              </a:rPr>
              <a:t> – Predicts flood, drought, disease, heatwave, and irrigation risks. </a:t>
            </a:r>
          </a:p>
          <a:p>
            <a:endParaRPr lang="en-GB" sz="1800" dirty="0">
              <a:solidFill>
                <a:srgbClr val="FFFF00"/>
              </a:solidFill>
              <a:latin typeface="Berlin Sans FB Demi" panose="020E0802020502020306" pitchFamily="34" charset="0"/>
            </a:endParaRPr>
          </a:p>
          <a:p>
            <a:pPr>
              <a:buFont typeface="Arial" panose="020B0604020202020204" pitchFamily="34" charset="0"/>
              <a:buChar char="•"/>
            </a:pPr>
            <a:r>
              <a:rPr lang="en-GB" sz="1800" b="1" dirty="0">
                <a:solidFill>
                  <a:srgbClr val="FFFF00"/>
                </a:solidFill>
                <a:latin typeface="Berlin Sans FB Demi" panose="020E0802020502020306" pitchFamily="34" charset="0"/>
              </a:rPr>
              <a:t>Unified Smart Farming Platform</a:t>
            </a:r>
            <a:r>
              <a:rPr lang="en-GB" sz="1800" dirty="0">
                <a:solidFill>
                  <a:srgbClr val="FFFF00"/>
                </a:solidFill>
                <a:latin typeface="Berlin Sans FB Demi" panose="020E0802020502020306" pitchFamily="34" charset="0"/>
              </a:rPr>
              <a:t> – Combines </a:t>
            </a:r>
            <a:r>
              <a:rPr lang="en-GB" sz="1800" b="1" dirty="0">
                <a:solidFill>
                  <a:srgbClr val="FFFF00"/>
                </a:solidFill>
                <a:latin typeface="Berlin Sans FB Demi" panose="020E0802020502020306" pitchFamily="34" charset="0"/>
              </a:rPr>
              <a:t>IoT + Weather + Market + AI</a:t>
            </a:r>
            <a:r>
              <a:rPr lang="en-GB" sz="1800" dirty="0">
                <a:solidFill>
                  <a:srgbClr val="FFFF00"/>
                </a:solidFill>
                <a:latin typeface="Berlin Sans FB Demi" panose="020E0802020502020306" pitchFamily="34" charset="0"/>
              </a:rPr>
              <a:t> for data-driven farming decisions.</a:t>
            </a:r>
            <a:endParaRPr lang="en-IN" dirty="0">
              <a:solidFill>
                <a:srgbClr val="FFFF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_4_template.png">
            <a:extLst>
              <a:ext uri="{FF2B5EF4-FFF2-40B4-BE49-F238E27FC236}">
                <a16:creationId xmlns:a16="http://schemas.microsoft.com/office/drawing/2014/main" id="{B29BE104-E975-5D1A-9D84-4F263AA9C9BA}"/>
              </a:ext>
            </a:extLst>
          </p:cNvPr>
          <p:cNvPicPr>
            <a:picLocks noChangeAspect="1"/>
          </p:cNvPicPr>
          <p:nvPr/>
        </p:nvPicPr>
        <p:blipFill>
          <a:blip r:embed="rId2"/>
          <a:stretch>
            <a:fillRect/>
          </a:stretch>
        </p:blipFill>
        <p:spPr>
          <a:xfrm>
            <a:off x="0" y="0"/>
            <a:ext cx="12191999" cy="6858000"/>
          </a:xfrm>
          <a:prstGeom prst="rect">
            <a:avLst/>
          </a:prstGeom>
        </p:spPr>
      </p:pic>
      <p:sp>
        <p:nvSpPr>
          <p:cNvPr id="4" name="TextBox 3">
            <a:extLst>
              <a:ext uri="{FF2B5EF4-FFF2-40B4-BE49-F238E27FC236}">
                <a16:creationId xmlns:a16="http://schemas.microsoft.com/office/drawing/2014/main" id="{E39861D4-2EF6-DDD5-84FD-5857E7BD8494}"/>
              </a:ext>
            </a:extLst>
          </p:cNvPr>
          <p:cNvSpPr txBox="1"/>
          <p:nvPr/>
        </p:nvSpPr>
        <p:spPr>
          <a:xfrm>
            <a:off x="3518941" y="1958928"/>
            <a:ext cx="6198432" cy="1107996"/>
          </a:xfrm>
          <a:prstGeom prst="rect">
            <a:avLst/>
          </a:prstGeom>
          <a:noFill/>
        </p:spPr>
        <p:txBody>
          <a:bodyPr wrap="square">
            <a:spAutoFit/>
          </a:bodyPr>
          <a:lstStyle/>
          <a:p>
            <a:r>
              <a:rPr lang="en-GB" sz="6600" b="1" dirty="0">
                <a:solidFill>
                  <a:srgbClr val="FFFF00"/>
                </a:solidFill>
                <a:latin typeface="Algerian" panose="04020705040A02060702" pitchFamily="82" charset="0"/>
              </a:rPr>
              <a:t>THANK YOU </a:t>
            </a:r>
            <a:endParaRPr lang="en-IN" sz="6600" b="1" dirty="0">
              <a:solidFill>
                <a:srgbClr val="FFFF00"/>
              </a:solidFill>
              <a:latin typeface="Algerian" panose="04020705040A02060702" pitchFamily="82" charset="0"/>
            </a:endParaRPr>
          </a:p>
        </p:txBody>
      </p:sp>
      <p:sp>
        <p:nvSpPr>
          <p:cNvPr id="6" name="TextBox 5">
            <a:extLst>
              <a:ext uri="{FF2B5EF4-FFF2-40B4-BE49-F238E27FC236}">
                <a16:creationId xmlns:a16="http://schemas.microsoft.com/office/drawing/2014/main" id="{A95CA72B-B8DA-A9F1-607A-FC93089C357A}"/>
              </a:ext>
            </a:extLst>
          </p:cNvPr>
          <p:cNvSpPr txBox="1"/>
          <p:nvPr/>
        </p:nvSpPr>
        <p:spPr>
          <a:xfrm>
            <a:off x="4756254" y="2948278"/>
            <a:ext cx="6198432" cy="461665"/>
          </a:xfrm>
          <a:prstGeom prst="rect">
            <a:avLst/>
          </a:prstGeom>
          <a:noFill/>
        </p:spPr>
        <p:txBody>
          <a:bodyPr wrap="square">
            <a:spAutoFit/>
          </a:bodyPr>
          <a:lstStyle/>
          <a:p>
            <a:r>
              <a:rPr lang="en-GB" sz="2400" dirty="0">
                <a:solidFill>
                  <a:srgbClr val="FFFF00"/>
                </a:solidFill>
                <a:latin typeface="Bauhaus 93" panose="04030905020B02020C02" pitchFamily="82" charset="0"/>
              </a:rPr>
              <a:t>From AETHRIX</a:t>
            </a:r>
            <a:endParaRPr lang="en-IN" sz="2400" dirty="0">
              <a:solidFill>
                <a:srgbClr val="FFFF00"/>
              </a:solidFill>
              <a:latin typeface="Bauhaus 93" panose="04030905020B02020C02" pitchFamily="82" charset="0"/>
            </a:endParaRPr>
          </a:p>
        </p:txBody>
      </p:sp>
    </p:spTree>
    <p:extLst>
      <p:ext uri="{BB962C8B-B14F-4D97-AF65-F5344CB8AC3E}">
        <p14:creationId xmlns:p14="http://schemas.microsoft.com/office/powerpoint/2010/main" val="831322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TotalTime>
  <Words>365</Words>
  <Application>Microsoft Office PowerPoint</Application>
  <PresentationFormat>Widescreen</PresentationFormat>
  <Paragraphs>54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Algerian</vt:lpstr>
      <vt:lpstr>Arial</vt:lpstr>
      <vt:lpstr>Bauhaus 93</vt:lpstr>
      <vt:lpstr>Berlin Sans FB Demi</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USER</dc:creator>
  <cp:keywords/>
  <dc:description>generated using python-pptx</dc:description>
  <cp:lastModifiedBy>Harsha Vardhini</cp:lastModifiedBy>
  <cp:revision>2</cp:revision>
  <dcterms:created xsi:type="dcterms:W3CDTF">2013-01-27T09:14:16Z</dcterms:created>
  <dcterms:modified xsi:type="dcterms:W3CDTF">2026-09-25T16:28:20Z</dcterms:modified>
  <cp:category/>
</cp:coreProperties>
</file>